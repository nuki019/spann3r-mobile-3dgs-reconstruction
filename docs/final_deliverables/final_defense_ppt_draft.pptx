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1" d="100"/>
          <a:sy n="21" d="100"/>
        </p:scale>
        <p:origin x="564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DFF449-55FF-536D-958E-7E24B498DE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C71C75E-2F0E-E020-1C93-BA48D66613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AD3DB2-F9B2-AE81-7DDB-7B8BBE942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02DB45-196E-E55E-4D12-B397EF7E9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342CC6-D533-4A32-6C27-1F9626FE0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5998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7F7586-EDD1-0462-21CC-211DA1A6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EC983A-E2FB-2CCC-AF04-3335A69D5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63BE1E-5803-A685-7567-07E484497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30FD99-2E2E-E514-3D8D-BD280785F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B7B04E-2D13-E5B3-F9E3-A41ECBF3F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8062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3BE694-D876-6A23-9FD6-485277039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9FF78B9-1162-E777-0021-A0F9E35A6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E9C4B3-ABC0-4A65-6030-215F2F5D2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9A2230-600D-4395-FD63-677E981D0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894921-60BB-CD31-0242-0170581DE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6626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E923B-6EED-E8C9-B81C-9AA799215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70EB579-2113-143C-9440-C656EB6E63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8316039-696B-9D55-23C7-6501A724E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64245-1761-A4C0-A1DC-B53922095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4A90A14-F5C4-370C-7C87-BC007B29F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9D1C7C4-C629-51E2-6E43-6D277DA94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5269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9C4BD0-D266-5BA8-FBFD-5FD1CAC9B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821346-4AFA-4B5E-D994-E329EBC71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A0C8C42-BEE8-76E3-D99D-D515F68AAE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3F8DCEF-E30F-C14B-F55F-97FC04804E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7B97902-FB95-AD4F-438B-1300AE7D85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73E7812-88BA-5006-46A2-427B07D33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3561BD6-0E9C-384A-0142-61944C53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64FB956-1E94-0E6F-E453-A4323037C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695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352C23-848C-1F0B-0C17-B0E4FE23E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37BD18-C66E-FAED-6C04-993C0CC58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BC92609-E28B-81AA-04AD-2DEC22AA9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502FF6F-D48F-82B7-80E8-8F8E5AC7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1393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44D5B27-D159-2429-FE9F-74F1CDEB0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721E1D-540D-5363-47BA-528FEE8FB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9A307E8-8F20-2042-0FE4-BA6398FEB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9519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99CDC4-51B8-6415-3290-9B5679D3D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F7E52C-74FA-2A22-E691-FC96C1CC39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7FFEA0-3091-7525-F5D4-38F1FD48E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F3A5884-E53E-9C1E-0BB8-DE8D750D5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92751-8656-06C3-829E-36B6794A8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6F49BF-9BCF-9BAC-DB4A-7490A5EA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6486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C02F7F-D447-4488-BFFD-DCFD4E299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62C9CB6-51E9-22C3-977E-3F909E4BC1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C3F6EAD-5A53-3E38-8A59-7567E41B60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91EBE0-8A9B-C53E-43D5-34EB939F2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33EEEF-04FE-C170-F3EF-8075104FC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1876FAE-1F06-92E6-EDBC-5FF932D9C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0781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AC4E89-5202-8A14-D63B-E43573826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0A64B0C-D15A-EB28-D585-FAA41FB56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1FB0E77-12D4-3FA6-C7E1-0CE49AAA4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8DDECE6-4797-F880-136B-EBD07AAE5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0FB43A8-D127-7AE5-8556-B7B5DB06A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4559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538ABF-59A2-9426-5AC2-2CBB5F1662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06115E-C774-3AC8-F61B-E43307B9A9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9FDE78-7AFE-31DB-8C54-EEF76D517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F15EE8-0348-D078-99F5-8669E67C4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034253-12C2-D5C9-C287-5D8CFA873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92447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2E22057-9140-5920-C9CF-65323E7B1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08D714-D2D0-009B-5780-297CA35B6C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57E211-C075-2A6C-BD88-D37843DEB0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9E40E0-BCCA-4B8D-BDDA-D0DE1E7172BA}" type="datetimeFigureOut">
              <a:rPr lang="zh-CN" altLang="en-US" smtClean="0"/>
              <a:t>2026/6/3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7DC13E-9650-1601-E605-72770ABC4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CACC5ED-B826-B3B0-E314-4E956C0EFA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48AA4-5F18-44F5-A9BF-B913FB3492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9286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29D09D0-0A92-89AA-1850-096CA2F68945}"/>
              </a:ext>
            </a:extLst>
          </p:cNvPr>
          <p:cNvSpPr txBox="1"/>
          <p:nvPr/>
        </p:nvSpPr>
        <p:spPr>
          <a:xfrm>
            <a:off x="736600" y="1168400"/>
            <a:ext cx="9652000" cy="49244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32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基于高斯泼溅的移动端</a:t>
            </a:r>
            <a:r>
              <a:rPr lang="en-US" altLang="zh-CN" sz="32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3D</a:t>
            </a:r>
            <a:r>
              <a:rPr lang="zh-CN" altLang="en-US" sz="32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场景重建系统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862C434-9602-C5FE-1381-641786B37B17}"/>
              </a:ext>
            </a:extLst>
          </p:cNvPr>
          <p:cNvSpPr txBox="1"/>
          <p:nvPr/>
        </p:nvSpPr>
        <p:spPr>
          <a:xfrm>
            <a:off x="787400" y="2387600"/>
            <a:ext cx="9144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7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结题答辩 </a:t>
            </a:r>
            <a:r>
              <a:rPr lang="en-US" altLang="zh-CN" sz="17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Spann3R + Splatfacto </a:t>
            </a:r>
            <a:r>
              <a:rPr lang="zh-CN" altLang="en-US" sz="17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端云协同流程优化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E598556-0648-7CAB-65F2-12E8BF89691B}"/>
              </a:ext>
            </a:extLst>
          </p:cNvPr>
          <p:cNvSpPr/>
          <p:nvPr/>
        </p:nvSpPr>
        <p:spPr>
          <a:xfrm>
            <a:off x="812800" y="3149600"/>
            <a:ext cx="1905000" cy="355600"/>
          </a:xfrm>
          <a:prstGeom prst="roundRect">
            <a:avLst/>
          </a:prstGeom>
          <a:solidFill>
            <a:srgbClr val="FEF2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rgbClr val="8559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上传体验优化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E9D3D23-1798-1524-5B3B-14581BAC29C9}"/>
              </a:ext>
            </a:extLst>
          </p:cNvPr>
          <p:cNvSpPr/>
          <p:nvPr/>
        </p:nvSpPr>
        <p:spPr>
          <a:xfrm>
            <a:off x="2921000" y="3149600"/>
            <a:ext cx="1905000" cy="355600"/>
          </a:xfrm>
          <a:prstGeom prst="roundRect">
            <a:avLst/>
          </a:prstGeom>
          <a:solidFill>
            <a:srgbClr val="E7FC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rgbClr val="346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训练队列管理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3571FE6-2B91-BFC7-7FEA-2DBAA8210DD1}"/>
              </a:ext>
            </a:extLst>
          </p:cNvPr>
          <p:cNvSpPr/>
          <p:nvPr/>
        </p:nvSpPr>
        <p:spPr>
          <a:xfrm>
            <a:off x="5029200" y="3149600"/>
            <a:ext cx="2032000" cy="355600"/>
          </a:xfrm>
          <a:prstGeom prst="roundRect">
            <a:avLst/>
          </a:prstGeom>
          <a:solidFill>
            <a:srgbClr val="C7F3F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rgbClr val="0E409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点云轻量下载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934D7F-7F02-B79A-2C25-D3725D5265A4}"/>
              </a:ext>
            </a:extLst>
          </p:cNvPr>
          <p:cNvSpPr/>
          <p:nvPr/>
        </p:nvSpPr>
        <p:spPr>
          <a:xfrm>
            <a:off x="7975600" y="1473200"/>
            <a:ext cx="3429000" cy="3429000"/>
          </a:xfrm>
          <a:prstGeom prst="rect">
            <a:avLst/>
          </a:prstGeom>
          <a:solidFill>
            <a:srgbClr val="FCFAF8"/>
          </a:solidFill>
          <a:ln w="19050">
            <a:solidFill>
              <a:srgbClr val="B8A3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项目结果主图</a:t>
            </a:r>
          </a:p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截图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结果图占位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0960569-9B01-DE03-5450-A72AF009F3A0}"/>
              </a:ext>
            </a:extLst>
          </p:cNvPr>
          <p:cNvSpPr txBox="1"/>
          <p:nvPr/>
        </p:nvSpPr>
        <p:spPr>
          <a:xfrm>
            <a:off x="812800" y="5664200"/>
            <a:ext cx="7620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200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学生：（填写姓名）    指导教师：（填写教师）    </a:t>
            </a:r>
            <a:r>
              <a:rPr lang="en-US" altLang="zh-CN" sz="1200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2026</a:t>
            </a:r>
            <a:r>
              <a:rPr lang="zh-CN" altLang="en-US" sz="1200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  <a:r>
              <a:rPr lang="en-US" altLang="zh-CN" sz="1200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</a:t>
            </a:r>
            <a:r>
              <a:rPr lang="zh-CN" altLang="en-US" sz="1200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610723-9064-87AF-BFAE-74929AFA5828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E571A57-1A06-6467-69CE-D5341196549D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01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02751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DBAAE67-B923-1FD4-FA61-79208EB0D67A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研究背景与问题定位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B8BD569-47CB-A8BD-BBE4-7F80092B8CCF}"/>
              </a:ext>
            </a:extLst>
          </p:cNvPr>
          <p:cNvSpPr txBox="1"/>
          <p:nvPr/>
        </p:nvSpPr>
        <p:spPr>
          <a:xfrm>
            <a:off x="482600" y="825500"/>
            <a:ext cx="711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从普通用户需求到工程约束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1AE1C4C9-D71F-DBEC-47A9-4FD5D039909B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F41B606E-E36A-CB34-DD72-6E7B5EBAC75B}"/>
              </a:ext>
            </a:extLst>
          </p:cNvPr>
          <p:cNvSpPr txBox="1"/>
          <p:nvPr/>
        </p:nvSpPr>
        <p:spPr>
          <a:xfrm>
            <a:off x="711200" y="1473200"/>
            <a:ext cx="5334000" cy="247760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大众化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3D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内容生产需要低门槛采集、低成本训练、移动端查看。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传统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SfM/MVS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操作链路偏重，手机非标定输入容易失败。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3DGS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适合实时展示，但训练初始化和点云规模需要工程优化。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个人微信小程序无法使用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WebView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，必须保留外部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Viewer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引导。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0592406-9C00-D725-DAD6-BDC4C47CFD0C}"/>
              </a:ext>
            </a:extLst>
          </p:cNvPr>
          <p:cNvSpPr/>
          <p:nvPr/>
        </p:nvSpPr>
        <p:spPr>
          <a:xfrm>
            <a:off x="6959600" y="1651000"/>
            <a:ext cx="4191000" cy="2921000"/>
          </a:xfrm>
          <a:prstGeom prst="rect">
            <a:avLst/>
          </a:prstGeom>
          <a:solidFill>
            <a:srgbClr val="FCFAF8"/>
          </a:solidFill>
          <a:ln w="19050">
            <a:solidFill>
              <a:srgbClr val="B8A3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需求场景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问题示意</a:t>
            </a:r>
          </a:p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截图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结果图占位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10FB436-377F-CBB1-22C6-5C0507F4E714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993EC56-5811-8802-2171-6C8F91F8914C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02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1918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8FBC4AE-522D-45FB-9DC1-1CC7740B0CA2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总体架构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A39761B-897C-6103-F861-93802C23CF78}"/>
              </a:ext>
            </a:extLst>
          </p:cNvPr>
          <p:cNvSpPr txBox="1"/>
          <p:nvPr/>
        </p:nvSpPr>
        <p:spPr>
          <a:xfrm>
            <a:off x="482600" y="825500"/>
            <a:ext cx="711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 </a:t>
            </a:r>
            <a:r>
              <a:rPr lang="en-US" altLang="zh-CN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AutoDL + Spann3R + Splatfacto</a:t>
            </a:r>
            <a:endParaRPr lang="zh-CN" altLang="en-US" sz="1000">
              <a:solidFill>
                <a:srgbClr val="75665B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1B498148-5AB4-6408-E1A4-6B1A3736C2C3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663EDA1D-D2F3-161E-3BB3-D79A02EF70F0}"/>
              </a:ext>
            </a:extLst>
          </p:cNvPr>
          <p:cNvSpPr/>
          <p:nvPr/>
        </p:nvSpPr>
        <p:spPr>
          <a:xfrm>
            <a:off x="685800" y="1498600"/>
            <a:ext cx="10820400" cy="3175000"/>
          </a:xfrm>
          <a:prstGeom prst="rect">
            <a:avLst/>
          </a:prstGeom>
          <a:solidFill>
            <a:srgbClr val="FCFAF8"/>
          </a:solidFill>
          <a:ln w="19050">
            <a:solidFill>
              <a:srgbClr val="B8A3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端云协同架构图</a:t>
            </a:r>
          </a:p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截图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结果图占位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B58EFAE-C9E5-3789-CF69-F080CF212EB3}"/>
              </a:ext>
            </a:extLst>
          </p:cNvPr>
          <p:cNvSpPr txBox="1"/>
          <p:nvPr/>
        </p:nvSpPr>
        <p:spPr>
          <a:xfrm>
            <a:off x="914400" y="5016500"/>
            <a:ext cx="10033000" cy="5899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en-US" altLang="zh-CN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6008 </a:t>
            </a: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承载管理 </a:t>
            </a:r>
            <a:r>
              <a:rPr lang="en-US" altLang="zh-CN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UI</a:t>
            </a: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、状态接口、上传代理和点云下载；</a:t>
            </a:r>
            <a:r>
              <a:rPr lang="en-US" altLang="zh-CN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6006 </a:t>
            </a: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保留给 </a:t>
            </a:r>
            <a:r>
              <a:rPr lang="en-US" altLang="zh-CN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Viewer</a:t>
            </a: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训练数据、场景输出和处理后点云缓存统一放在 </a:t>
            </a:r>
            <a:r>
              <a:rPr lang="en-US" altLang="zh-CN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/root/autodl-tmp </a:t>
            </a: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数据盘。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14B8AD-B389-23A3-5312-95821AA447EA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340F69F-917F-33A7-B08F-FDD6D1AD77D2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03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42113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C04492E-AAC3-6B07-7D15-560B51D876D6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端到端流程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C2747F2-E929-8AAF-5868-B1F601F1E26E}"/>
              </a:ext>
            </a:extLst>
          </p:cNvPr>
          <p:cNvSpPr txBox="1"/>
          <p:nvPr/>
        </p:nvSpPr>
        <p:spPr>
          <a:xfrm>
            <a:off x="482600" y="825500"/>
            <a:ext cx="711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采集、上传、训练、下载、查看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1E8A72EE-79E9-D8E9-F7E2-D069DCFDFC33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ECF7F1E-465C-E474-84DD-57015B8BEA32}"/>
              </a:ext>
            </a:extLst>
          </p:cNvPr>
          <p:cNvSpPr/>
          <p:nvPr/>
        </p:nvSpPr>
        <p:spPr>
          <a:xfrm>
            <a:off x="685800" y="1905000"/>
            <a:ext cx="1841500" cy="355600"/>
          </a:xfrm>
          <a:prstGeom prst="roundRect">
            <a:avLst/>
          </a:prstGeom>
          <a:solidFill>
            <a:srgbClr val="FEF2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 </a:t>
            </a:r>
            <a:r>
              <a:rPr lang="zh-CN" altLang="en-US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小程序采集</a:t>
            </a:r>
            <a:r>
              <a:rPr lang="en-US" altLang="zh-CN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选择照片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540A7D-CF87-ADEF-F638-8226BAA2A802}"/>
              </a:ext>
            </a:extLst>
          </p:cNvPr>
          <p:cNvCxnSpPr/>
          <p:nvPr/>
        </p:nvCxnSpPr>
        <p:spPr>
          <a:xfrm>
            <a:off x="2565400" y="2082800"/>
            <a:ext cx="304800" cy="0"/>
          </a:xfrm>
          <a:prstGeom prst="line">
            <a:avLst/>
          </a:prstGeom>
          <a:ln w="25400">
            <a:solidFill>
              <a:srgbClr val="8B74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D683E15-68D3-3537-7225-ADD5DE9CA8C3}"/>
              </a:ext>
            </a:extLst>
          </p:cNvPr>
          <p:cNvSpPr/>
          <p:nvPr/>
        </p:nvSpPr>
        <p:spPr>
          <a:xfrm>
            <a:off x="2921000" y="1905000"/>
            <a:ext cx="1841500" cy="355600"/>
          </a:xfrm>
          <a:prstGeom prst="roundRect">
            <a:avLst/>
          </a:prstGeom>
          <a:solidFill>
            <a:srgbClr val="FEF2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  /upload-proxy </a:t>
            </a:r>
            <a:r>
              <a:rPr lang="zh-CN" altLang="en-US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上传到 </a:t>
            </a:r>
            <a:r>
              <a:rPr lang="en-US" altLang="zh-CN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AutoDL</a:t>
            </a:r>
            <a:endParaRPr lang="zh-CN" altLang="en-US" sz="1200" b="1">
              <a:solidFill>
                <a:srgbClr val="814C0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1184023-6E9C-FB8C-43C6-0800B6BD3F3B}"/>
              </a:ext>
            </a:extLst>
          </p:cNvPr>
          <p:cNvCxnSpPr/>
          <p:nvPr/>
        </p:nvCxnSpPr>
        <p:spPr>
          <a:xfrm>
            <a:off x="4800600" y="2082800"/>
            <a:ext cx="304800" cy="0"/>
          </a:xfrm>
          <a:prstGeom prst="line">
            <a:avLst/>
          </a:prstGeom>
          <a:ln w="25400">
            <a:solidFill>
              <a:srgbClr val="8B74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A29505A3-FF98-6B73-AAE2-5ADED263E2A0}"/>
              </a:ext>
            </a:extLst>
          </p:cNvPr>
          <p:cNvSpPr/>
          <p:nvPr/>
        </p:nvSpPr>
        <p:spPr>
          <a:xfrm>
            <a:off x="5156200" y="1905000"/>
            <a:ext cx="1841500" cy="355600"/>
          </a:xfrm>
          <a:prstGeom prst="roundRect">
            <a:avLst/>
          </a:prstGeom>
          <a:solidFill>
            <a:srgbClr val="FEF2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 Spann3R </a:t>
            </a:r>
            <a:r>
              <a:rPr lang="zh-CN" altLang="en-US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生成位姿与初始点云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A659C17-8485-3F1B-21E6-F91172779297}"/>
              </a:ext>
            </a:extLst>
          </p:cNvPr>
          <p:cNvCxnSpPr/>
          <p:nvPr/>
        </p:nvCxnSpPr>
        <p:spPr>
          <a:xfrm>
            <a:off x="7035800" y="2082800"/>
            <a:ext cx="304800" cy="0"/>
          </a:xfrm>
          <a:prstGeom prst="line">
            <a:avLst/>
          </a:prstGeom>
          <a:ln w="25400">
            <a:solidFill>
              <a:srgbClr val="8B74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30D600-AF2B-56E4-8DB2-A9A21DD53D29}"/>
              </a:ext>
            </a:extLst>
          </p:cNvPr>
          <p:cNvSpPr/>
          <p:nvPr/>
        </p:nvSpPr>
        <p:spPr>
          <a:xfrm>
            <a:off x="7391400" y="1905000"/>
            <a:ext cx="1841500" cy="355600"/>
          </a:xfrm>
          <a:prstGeom prst="roundRect">
            <a:avLst/>
          </a:prstGeom>
          <a:solidFill>
            <a:srgbClr val="FEF2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  Splatfacto </a:t>
            </a:r>
            <a:r>
              <a:rPr lang="zh-CN" altLang="en-US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训练并导出 </a:t>
            </a:r>
            <a:r>
              <a:rPr lang="en-US" altLang="zh-CN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Gaussian</a:t>
            </a:r>
            <a:endParaRPr lang="zh-CN" altLang="en-US" sz="1200" b="1">
              <a:solidFill>
                <a:srgbClr val="814C0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BF06A47-99E8-E0C3-0E25-EDA559DE61A4}"/>
              </a:ext>
            </a:extLst>
          </p:cNvPr>
          <p:cNvCxnSpPr/>
          <p:nvPr/>
        </p:nvCxnSpPr>
        <p:spPr>
          <a:xfrm>
            <a:off x="9271000" y="2082800"/>
            <a:ext cx="304800" cy="0"/>
          </a:xfrm>
          <a:prstGeom prst="line">
            <a:avLst/>
          </a:prstGeom>
          <a:ln w="25400">
            <a:solidFill>
              <a:srgbClr val="8B74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547F1888-C77C-D14B-12EE-3D8333AFD15A}"/>
              </a:ext>
            </a:extLst>
          </p:cNvPr>
          <p:cNvSpPr/>
          <p:nvPr/>
        </p:nvSpPr>
        <p:spPr>
          <a:xfrm>
            <a:off x="9626600" y="1905000"/>
            <a:ext cx="1841500" cy="355600"/>
          </a:xfrm>
          <a:prstGeom prst="roundRect">
            <a:avLst/>
          </a:prstGeom>
          <a:solidFill>
            <a:srgbClr val="FEF2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  </a:t>
            </a:r>
            <a:r>
              <a:rPr lang="zh-CN" altLang="en-US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下载处理后点云或打开 </a:t>
            </a:r>
            <a:r>
              <a:rPr lang="en-US" altLang="zh-CN" sz="1200" b="1">
                <a:solidFill>
                  <a:srgbClr val="814C0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Viewer</a:t>
            </a:r>
            <a:endParaRPr lang="zh-CN" altLang="en-US" sz="1200" b="1">
              <a:solidFill>
                <a:srgbClr val="814C0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E299BF8-94DB-AFF8-530C-B2762DD6E865}"/>
              </a:ext>
            </a:extLst>
          </p:cNvPr>
          <p:cNvSpPr/>
          <p:nvPr/>
        </p:nvSpPr>
        <p:spPr>
          <a:xfrm>
            <a:off x="1320800" y="3238500"/>
            <a:ext cx="9499600" cy="1968500"/>
          </a:xfrm>
          <a:prstGeom prst="rect">
            <a:avLst/>
          </a:prstGeom>
          <a:solidFill>
            <a:srgbClr val="FCFAF8"/>
          </a:solidFill>
          <a:ln w="19050">
            <a:solidFill>
              <a:srgbClr val="B8A3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流程演示截图拼图</a:t>
            </a:r>
          </a:p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截图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结果图占位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D5E1C39-FAE8-3DC5-2872-6927278B9F88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3A98134-6316-3A0F-ACA4-BCAD20287276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04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6682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6575571-2E10-0922-C372-AE8DB60DF855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上传体验优化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18A65C0-7855-FAC7-D4C1-AF41805C4079}"/>
              </a:ext>
            </a:extLst>
          </p:cNvPr>
          <p:cNvSpPr txBox="1"/>
          <p:nvPr/>
        </p:nvSpPr>
        <p:spPr>
          <a:xfrm>
            <a:off x="482600" y="825500"/>
            <a:ext cx="711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减少用户等待不确定性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3DB57E7-BB3D-CA79-5B84-7D5CBD1E562E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948A4D1A-552F-58CC-F5D1-F6507C30DD56}"/>
              </a:ext>
            </a:extLst>
          </p:cNvPr>
          <p:cNvSpPr txBox="1"/>
          <p:nvPr/>
        </p:nvSpPr>
        <p:spPr>
          <a:xfrm>
            <a:off x="736600" y="1524000"/>
            <a:ext cx="4953000" cy="169277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上传入口统一到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6008 /upload-proxy/upload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小程序显示健康检查、上传统计和阶段提示。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失败上传可重试，后端返回文件名、大小和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hash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个人小程序不内嵌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WebView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，改为复制链接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外部打开引导。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A8BF9B-8992-9A7B-844B-6BBE0A4CE190}"/>
              </a:ext>
            </a:extLst>
          </p:cNvPr>
          <p:cNvSpPr/>
          <p:nvPr/>
        </p:nvSpPr>
        <p:spPr>
          <a:xfrm>
            <a:off x="6604000" y="1524000"/>
            <a:ext cx="4343400" cy="3365500"/>
          </a:xfrm>
          <a:prstGeom prst="rect">
            <a:avLst/>
          </a:prstGeom>
          <a:solidFill>
            <a:srgbClr val="FCFAF8"/>
          </a:solidFill>
          <a:ln w="19050">
            <a:solidFill>
              <a:srgbClr val="B8A3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小程序上传页截图</a:t>
            </a:r>
          </a:p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截图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结果图占位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C43254-4C08-B90A-B487-00CF4F372248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A174166-F1C2-ECCA-E3D8-34C14ED882C5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05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0852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FC4C07-45A7-F64B-F291-AEEAE0E89B6B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训练与任务管理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75FD397-5860-3850-A967-694EBA6AC87E}"/>
              </a:ext>
            </a:extLst>
          </p:cNvPr>
          <p:cNvSpPr txBox="1"/>
          <p:nvPr/>
        </p:nvSpPr>
        <p:spPr>
          <a:xfrm>
            <a:off x="482600" y="825500"/>
            <a:ext cx="711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单卡环境稳定优先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4BAF1B5B-A876-5D93-7CC0-AA6BDB17CC0A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01575CE9-0CE3-3687-405A-2FBC1DB45E90}"/>
              </a:ext>
            </a:extLst>
          </p:cNvPr>
          <p:cNvSpPr txBox="1"/>
          <p:nvPr/>
        </p:nvSpPr>
        <p:spPr>
          <a:xfrm>
            <a:off x="736600" y="1498600"/>
            <a:ext cx="5143500" cy="169277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负责非标定输入的几何先验。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Splatfacto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在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Nerfstudio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中完成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3DGS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训练与导出。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已有任务运行时，新请求进入等待队列。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训练前检查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Viewer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端口，避免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6006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冲突。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9CA5EB-E704-F66A-49F6-6D047BC6C7EF}"/>
              </a:ext>
            </a:extLst>
          </p:cNvPr>
          <p:cNvSpPr/>
          <p:nvPr/>
        </p:nvSpPr>
        <p:spPr>
          <a:xfrm>
            <a:off x="6604000" y="1422400"/>
            <a:ext cx="4381500" cy="3619500"/>
          </a:xfrm>
          <a:prstGeom prst="rect">
            <a:avLst/>
          </a:prstGeom>
          <a:solidFill>
            <a:srgbClr val="FCFAF8"/>
          </a:solidFill>
          <a:ln w="19050">
            <a:solidFill>
              <a:srgbClr val="B8A3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后端状态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日志截图</a:t>
            </a:r>
          </a:p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截图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结果图占位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A813FEA-199F-BD1D-60CE-794A86FF659E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D068403-D32A-AC64-756A-21FC5BF4201D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06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2913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A25B17A-5ACF-DA8A-9655-70FC5C95F9ED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点云下载优化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4AC0590-27DA-602E-06E6-9642342E5981}"/>
              </a:ext>
            </a:extLst>
          </p:cNvPr>
          <p:cNvSpPr txBox="1"/>
          <p:nvPr/>
        </p:nvSpPr>
        <p:spPr>
          <a:xfrm>
            <a:off x="482600" y="825500"/>
            <a:ext cx="711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默认处理后下载，原始文件保留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5B3CD6E-6EFC-4F68-9EC1-365C9DF55685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667B6A38-CE33-AFFF-DACE-05FBC81BCFA0}"/>
              </a:ext>
            </a:extLst>
          </p:cNvPr>
          <p:cNvSpPr txBox="1"/>
          <p:nvPr/>
        </p:nvSpPr>
        <p:spPr>
          <a:xfrm>
            <a:off x="711200" y="1422400"/>
            <a:ext cx="5016500" cy="143116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下载前按参考点云边界框做空间裁切。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使用体素下采样降低点数量和文件大小。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处理后文件写入缓存，相同参数复用结果。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支持按场景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类型筛选，多文件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ZIP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打包下载。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C5A9A70-DEE5-3CA7-3550-C83032931360}"/>
              </a:ext>
            </a:extLst>
          </p:cNvPr>
          <p:cNvSpPr/>
          <p:nvPr/>
        </p:nvSpPr>
        <p:spPr>
          <a:xfrm>
            <a:off x="6477000" y="1473200"/>
            <a:ext cx="4508500" cy="2222500"/>
          </a:xfrm>
          <a:prstGeom prst="rect">
            <a:avLst/>
          </a:prstGeom>
          <a:solidFill>
            <a:srgbClr val="FCFAF8"/>
          </a:solidFill>
          <a:ln w="19050">
            <a:solidFill>
              <a:srgbClr val="B8A3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点云下载页截图</a:t>
            </a:r>
          </a:p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截图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结果图占位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02F38BF-ECCE-783C-D44B-AFC3D74F895E}"/>
              </a:ext>
            </a:extLst>
          </p:cNvPr>
          <p:cNvSpPr txBox="1"/>
          <p:nvPr/>
        </p:nvSpPr>
        <p:spPr>
          <a:xfrm>
            <a:off x="6604000" y="4064000"/>
            <a:ext cx="4191000" cy="5539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b="1">
                <a:solidFill>
                  <a:srgbClr val="346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远程验证：示例点云约 </a:t>
            </a:r>
            <a:r>
              <a:rPr lang="en-US" altLang="zh-CN" b="1">
                <a:solidFill>
                  <a:srgbClr val="346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482 KB </a:t>
            </a:r>
            <a:r>
              <a:rPr lang="zh-CN" altLang="en-US" b="1">
                <a:solidFill>
                  <a:srgbClr val="346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处理为约 </a:t>
            </a:r>
            <a:r>
              <a:rPr lang="en-US" altLang="zh-CN" b="1">
                <a:solidFill>
                  <a:srgbClr val="346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17 KB</a:t>
            </a:r>
            <a:endParaRPr lang="zh-CN" altLang="en-US" b="1">
              <a:solidFill>
                <a:srgbClr val="34651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211AF80-F0FA-4CBA-9BF3-1F9607A4271D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084D83-7E89-F586-1F35-E6D4695167CC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07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74767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803FFC0-43DC-9AD5-20F8-B303AEC9616E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前后端 </a:t>
            </a:r>
            <a:r>
              <a:rPr lang="en-US" altLang="zh-CN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UI </a:t>
            </a:r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优化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1A1F506-ABC5-547E-088C-66C61E81DD6B}"/>
              </a:ext>
            </a:extLst>
          </p:cNvPr>
          <p:cNvSpPr txBox="1"/>
          <p:nvPr/>
        </p:nvSpPr>
        <p:spPr>
          <a:xfrm>
            <a:off x="482600" y="825500"/>
            <a:ext cx="711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状态可见、链接清晰、结果可取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DF8DC326-D8D2-80D1-492A-F7E4C680BC1D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9AF011E3-E600-FE9B-8B22-FC860F9EFD18}"/>
              </a:ext>
            </a:extLst>
          </p:cNvPr>
          <p:cNvSpPr/>
          <p:nvPr/>
        </p:nvSpPr>
        <p:spPr>
          <a:xfrm>
            <a:off x="635000" y="1473200"/>
            <a:ext cx="5080000" cy="3111500"/>
          </a:xfrm>
          <a:prstGeom prst="rect">
            <a:avLst/>
          </a:prstGeom>
          <a:solidFill>
            <a:srgbClr val="FCFAF8"/>
          </a:solidFill>
          <a:ln w="19050">
            <a:solidFill>
              <a:srgbClr val="B8A3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小程序预览页</a:t>
            </a:r>
          </a:p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截图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结果图占位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E6B1EE1-F471-6FA6-2851-DE3D87C3EFB1}"/>
              </a:ext>
            </a:extLst>
          </p:cNvPr>
          <p:cNvSpPr/>
          <p:nvPr/>
        </p:nvSpPr>
        <p:spPr>
          <a:xfrm>
            <a:off x="6477000" y="1473200"/>
            <a:ext cx="5080000" cy="3111500"/>
          </a:xfrm>
          <a:prstGeom prst="rect">
            <a:avLst/>
          </a:prstGeom>
          <a:solidFill>
            <a:srgbClr val="FCFAF8"/>
          </a:solidFill>
          <a:ln w="19050">
            <a:solidFill>
              <a:srgbClr val="B8A3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6008 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管理面板</a:t>
            </a:r>
          </a:p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截图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结果图占位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1056A03-8939-25D0-9B97-3ABF5F73B61A}"/>
              </a:ext>
            </a:extLst>
          </p:cNvPr>
          <p:cNvSpPr txBox="1"/>
          <p:nvPr/>
        </p:nvSpPr>
        <p:spPr>
          <a:xfrm>
            <a:off x="939800" y="4978400"/>
            <a:ext cx="99060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小程序侧显示健康、上传、训练、队列和点云清单。后端侧提供配置、日志、场景摘要、下载和清理入口。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9DD8E15-6089-1E92-0597-4F6819504A8E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AFB653-D480-AE0B-BB3F-035A61573EB1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08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01897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232E891-C241-A7E7-53CC-C8EFC30CC504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验证结果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88DF3EC-0F97-869F-7130-CC9F992EBA50}"/>
              </a:ext>
            </a:extLst>
          </p:cNvPr>
          <p:cNvSpPr txBox="1"/>
          <p:nvPr/>
        </p:nvSpPr>
        <p:spPr>
          <a:xfrm>
            <a:off x="482600" y="825500"/>
            <a:ext cx="711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接口可用性与下载结果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542EFF3-18E5-2569-3F53-D4133CC3AB7D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43F6F2DF-9EE8-16F9-8ECC-80D5DF1471CF}"/>
              </a:ext>
            </a:extLst>
          </p:cNvPr>
          <p:cNvSpPr/>
          <p:nvPr/>
        </p:nvSpPr>
        <p:spPr>
          <a:xfrm>
            <a:off x="660400" y="1422400"/>
            <a:ext cx="4953000" cy="3365500"/>
          </a:xfrm>
          <a:prstGeom prst="rect">
            <a:avLst/>
          </a:prstGeom>
          <a:solidFill>
            <a:srgbClr val="FCFAF8"/>
          </a:solidFill>
          <a:ln w="19050">
            <a:solidFill>
              <a:srgbClr val="B8A39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健康检查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接口返回截图</a:t>
            </a:r>
          </a:p>
          <a:p>
            <a:pPr algn="ctr"/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截图</a:t>
            </a:r>
            <a:r>
              <a:rPr lang="en-US" altLang="zh-CN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b="1">
                <a:solidFill>
                  <a:srgbClr val="69554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结果图占位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2608BD0-949D-35B3-8958-5A2EA931EC50}"/>
              </a:ext>
            </a:extLst>
          </p:cNvPr>
          <p:cNvSpPr txBox="1"/>
          <p:nvPr/>
        </p:nvSpPr>
        <p:spPr>
          <a:xfrm>
            <a:off x="6350000" y="1574800"/>
            <a:ext cx="4572000" cy="169277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6008 /healthz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返回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200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/api/status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返回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PID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和队列状态。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/api/pointclouds/summary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发现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个点云文件。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处理后单文件下载与 </a:t>
            </a:r>
            <a:r>
              <a:rPr lang="en-US" altLang="zh-CN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ZIP </a:t>
            </a:r>
            <a:r>
              <a:rPr lang="zh-CN" altLang="en-US" sz="17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下载均通过。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89614A-AA1D-DEB3-8834-A153C6FA5F3E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982A8ED-0764-7CAC-4FC3-6680922D7396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09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47368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BC10078-7C72-E374-2D47-47255C137AE5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同卡对比短基准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0495777-F634-9BF7-79F1-A93F1EA3A21A}"/>
              </a:ext>
            </a:extLst>
          </p:cNvPr>
          <p:cNvSpPr txBox="1"/>
          <p:nvPr/>
        </p:nvSpPr>
        <p:spPr>
          <a:xfrm>
            <a:off x="482600" y="825500"/>
            <a:ext cx="8636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隔离部署，不破坏原 </a:t>
            </a:r>
            <a:r>
              <a:rPr lang="en-US" altLang="zh-CN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</a:t>
            </a:r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后端环境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D75DC9F0-1AEE-0C69-68FE-AE1384EB1554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79D2537-9B1C-E282-CF2B-2FD43A6E56C8}"/>
              </a:ext>
            </a:extLst>
          </p:cNvPr>
          <p:cNvSpPr/>
          <p:nvPr/>
        </p:nvSpPr>
        <p:spPr>
          <a:xfrm>
            <a:off x="685800" y="1422400"/>
            <a:ext cx="2413000" cy="406400"/>
          </a:xfrm>
          <a:prstGeom prst="roundRect">
            <a:avLst/>
          </a:prstGeom>
          <a:solidFill>
            <a:srgbClr val="E7FC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00" b="1">
                <a:solidFill>
                  <a:srgbClr val="346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数据盘剩余约 </a:t>
            </a:r>
            <a:r>
              <a:rPr lang="en-US" altLang="zh-CN" sz="1300" b="1">
                <a:solidFill>
                  <a:srgbClr val="346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22GB</a:t>
            </a:r>
            <a:endParaRPr lang="zh-CN" altLang="en-US" sz="1300" b="1">
              <a:solidFill>
                <a:srgbClr val="34651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2490005-B7F7-F633-01E7-35954B139EAE}"/>
              </a:ext>
            </a:extLst>
          </p:cNvPr>
          <p:cNvSpPr/>
          <p:nvPr/>
        </p:nvSpPr>
        <p:spPr>
          <a:xfrm>
            <a:off x="3302000" y="1422400"/>
            <a:ext cx="2476500" cy="406400"/>
          </a:xfrm>
          <a:prstGeom prst="roundRect">
            <a:avLst/>
          </a:prstGeom>
          <a:solidFill>
            <a:srgbClr val="FEF2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00" b="1">
                <a:solidFill>
                  <a:srgbClr val="8559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隔离目录约 </a:t>
            </a:r>
            <a:r>
              <a:rPr lang="en-US" altLang="zh-CN" sz="1300" b="1">
                <a:solidFill>
                  <a:srgbClr val="8559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284MB</a:t>
            </a:r>
            <a:endParaRPr lang="zh-CN" altLang="en-US" sz="1300" b="1">
              <a:solidFill>
                <a:srgbClr val="85590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3B489E6-0699-822E-32B1-B949FB44017C}"/>
              </a:ext>
            </a:extLst>
          </p:cNvPr>
          <p:cNvSpPr/>
          <p:nvPr/>
        </p:nvSpPr>
        <p:spPr>
          <a:xfrm>
            <a:off x="5994400" y="1422400"/>
            <a:ext cx="2794000" cy="406400"/>
          </a:xfrm>
          <a:prstGeom prst="roundRect">
            <a:avLst/>
          </a:prstGeom>
          <a:solidFill>
            <a:srgbClr val="C7F3F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00" b="1">
                <a:solidFill>
                  <a:srgbClr val="0E409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CUDA </a:t>
            </a:r>
            <a:r>
              <a:rPr lang="zh-CN" altLang="en-US" sz="1300" b="1">
                <a:solidFill>
                  <a:srgbClr val="0E409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扩展缓存放数据盘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B11C209-8178-7A0A-69B0-DDB98E3C28D6}"/>
              </a:ext>
            </a:extLst>
          </p:cNvPr>
          <p:cNvSpPr/>
          <p:nvPr/>
        </p:nvSpPr>
        <p:spPr>
          <a:xfrm>
            <a:off x="736600" y="2133600"/>
            <a:ext cx="3302000" cy="1841500"/>
          </a:xfrm>
          <a:prstGeom prst="rect">
            <a:avLst/>
          </a:prstGeom>
          <a:solidFill>
            <a:srgbClr val="FCFAF8"/>
          </a:solidFill>
          <a:ln w="12700">
            <a:solidFill>
              <a:srgbClr val="E1D5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152400" rIns="177800" bIns="127000" rtlCol="0" anchor="ctr"/>
          <a:lstStyle/>
          <a:p>
            <a:pPr algn="ctr"/>
            <a:r>
              <a:rPr lang="en-US" altLang="zh-CN" sz="17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Nerfacto </a:t>
            </a:r>
            <a:r>
              <a:rPr lang="zh-CN" altLang="en-US" sz="17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基线</a:t>
            </a:r>
          </a:p>
          <a:p>
            <a:pPr algn="ctr"/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20 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步训练成功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`r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耗时约 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16 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秒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`r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说明 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Nerfstudio 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训练框架可启动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59B0756-3470-FFB3-6772-30797B2374ED}"/>
              </a:ext>
            </a:extLst>
          </p:cNvPr>
          <p:cNvSpPr/>
          <p:nvPr/>
        </p:nvSpPr>
        <p:spPr>
          <a:xfrm>
            <a:off x="4445000" y="2133600"/>
            <a:ext cx="3302000" cy="1841500"/>
          </a:xfrm>
          <a:prstGeom prst="rect">
            <a:avLst/>
          </a:prstGeom>
          <a:solidFill>
            <a:srgbClr val="F4FDF0"/>
          </a:solidFill>
          <a:ln w="12700">
            <a:solidFill>
              <a:srgbClr val="E1D5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152400" rIns="177800" bIns="127000" rtlCol="0" anchor="ctr"/>
          <a:lstStyle/>
          <a:p>
            <a:pPr algn="ctr"/>
            <a:r>
              <a:rPr lang="en-US" altLang="zh-CN" sz="17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Splatfacto </a:t>
            </a:r>
            <a:r>
              <a:rPr lang="zh-CN" altLang="en-US" sz="17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隔离修复</a:t>
            </a:r>
          </a:p>
          <a:p>
            <a:pPr algn="ctr"/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20 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步训练成功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`r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首次编译扩展，耗时约 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230 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秒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`r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依赖 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ninja + CUDA_HOME + Torch 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扩展缓存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26B0962-2643-42CC-F634-4AB21B5DA75F}"/>
              </a:ext>
            </a:extLst>
          </p:cNvPr>
          <p:cNvSpPr/>
          <p:nvPr/>
        </p:nvSpPr>
        <p:spPr>
          <a:xfrm>
            <a:off x="8153400" y="2133600"/>
            <a:ext cx="3302000" cy="1841500"/>
          </a:xfrm>
          <a:prstGeom prst="rect">
            <a:avLst/>
          </a:prstGeom>
          <a:solidFill>
            <a:srgbClr val="EDF7FF"/>
          </a:solidFill>
          <a:ln w="12700">
            <a:solidFill>
              <a:srgbClr val="E1D5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152400" rIns="177800" bIns="127000" rtlCol="0" anchor="ctr"/>
          <a:lstStyle/>
          <a:p>
            <a:pPr algn="ctr"/>
            <a:r>
              <a:rPr lang="en-US" altLang="zh-CN" sz="17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COLMAP </a:t>
            </a:r>
            <a:r>
              <a:rPr lang="zh-CN" altLang="en-US" sz="17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基线</a:t>
            </a:r>
          </a:p>
          <a:p>
            <a:pPr algn="ctr"/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colmap 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不在 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PATH`r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未直接安装，避免污染 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base 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环境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`r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后续应建独立 </a:t>
            </a:r>
            <a:r>
              <a:rPr lang="en-US" altLang="zh-CN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 </a:t>
            </a:r>
            <a:r>
              <a:rPr lang="zh-CN" altLang="en-US" sz="1400">
                <a:solidFill>
                  <a:srgbClr val="5541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环境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ABA5FC7-29B9-4D56-2D83-944FDDB1F0B8}"/>
              </a:ext>
            </a:extLst>
          </p:cNvPr>
          <p:cNvSpPr txBox="1"/>
          <p:nvPr/>
        </p:nvSpPr>
        <p:spPr>
          <a:xfrm>
            <a:off x="914400" y="4445000"/>
            <a:ext cx="9906000" cy="89768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marL="266700" indent="-203200">
              <a:spcAft>
                <a:spcPts val="800"/>
              </a:spcAft>
              <a:buFont typeface="+mj-lt"/>
              <a:buAutoNum type="arabicPeriod"/>
            </a:pP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结论：其他工作流可以同卡部署，但要隔离依赖、缓存和输出目录。</a:t>
            </a:r>
          </a:p>
          <a:p>
            <a:pPr marL="266700" indent="-203200">
              <a:spcAft>
                <a:spcPts val="800"/>
              </a:spcAft>
              <a:buFont typeface="+mj-lt"/>
              <a:buAutoNum type="arabicPeriod"/>
            </a:pP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本项目主流程的优势是 </a:t>
            </a:r>
            <a:r>
              <a:rPr lang="en-US" altLang="zh-CN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</a:t>
            </a: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先处理非标定手机输入，再交给 </a:t>
            </a:r>
            <a:r>
              <a:rPr lang="en-US" altLang="zh-CN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Splatfacto </a:t>
            </a: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提升 </a:t>
            </a:r>
            <a:r>
              <a:rPr lang="en-US" altLang="zh-CN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3DGS </a:t>
            </a: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展示质量。</a:t>
            </a:r>
          </a:p>
          <a:p>
            <a:pPr marL="266700" indent="-203200">
              <a:spcAft>
                <a:spcPts val="800"/>
              </a:spcAft>
              <a:buFont typeface="+mj-lt"/>
              <a:buAutoNum type="arabicPeriod"/>
            </a:pP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点云下载层继续通过裁切</a:t>
            </a:r>
            <a:r>
              <a:rPr lang="en-US" altLang="zh-CN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500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下采样降低输出体积，便于移动端下载和答辩复核。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6F30176-7DED-3F2D-3B16-9BD8678374CA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EC6B6F9-722D-89F6-17E2-7EEA0D7E1615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5302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EC79F5E-851B-4636-B883-F03C63F800A4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结题成果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34F07FB-2CD1-9697-2233-5936B6532E45}"/>
              </a:ext>
            </a:extLst>
          </p:cNvPr>
          <p:cNvSpPr txBox="1"/>
          <p:nvPr/>
        </p:nvSpPr>
        <p:spPr>
          <a:xfrm>
            <a:off x="482600" y="825500"/>
            <a:ext cx="711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代码、系统、文档、报告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7D3DF0B3-23A1-E88D-1105-8538B34B5233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157FCA0D-DA55-9CDB-88ED-25185A9E32F7}"/>
              </a:ext>
            </a:extLst>
          </p:cNvPr>
          <p:cNvSpPr txBox="1"/>
          <p:nvPr/>
        </p:nvSpPr>
        <p:spPr>
          <a:xfrm>
            <a:off x="787400" y="1460500"/>
            <a:ext cx="9906000" cy="14927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上传：路径代理、上传校验、状态提示、失败重试。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训练：两阶段流程、单卡队列、日志解析、端口冲突处理。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下载：处理后点云、原始点云、多文件 </a:t>
            </a:r>
            <a:r>
              <a:rPr lang="en-US" altLang="zh-CN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ZIP</a:t>
            </a: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、缓存清理。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交付：</a:t>
            </a:r>
            <a:r>
              <a:rPr lang="en-US" altLang="zh-CN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XeTeX </a:t>
            </a: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结题报告、答辩 </a:t>
            </a:r>
            <a:r>
              <a:rPr lang="en-US" altLang="zh-CN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PPT</a:t>
            </a: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、接口文档、用户手册、截图清单。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F63A9B-D5B5-930A-04DE-26A440BC8207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F0A0FF6-2505-3156-32F0-3CA68E58833A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11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153318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9347341-62FE-FBC5-FF1F-A2CA3458B6B3}"/>
              </a:ext>
            </a:extLst>
          </p:cNvPr>
          <p:cNvSpPr txBox="1"/>
          <p:nvPr/>
        </p:nvSpPr>
        <p:spPr>
          <a:xfrm>
            <a:off x="457200" y="3048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演示素材清单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1CB05A0-537E-71E0-609E-AB30220D3BE7}"/>
              </a:ext>
            </a:extLst>
          </p:cNvPr>
          <p:cNvSpPr txBox="1"/>
          <p:nvPr/>
        </p:nvSpPr>
        <p:spPr>
          <a:xfrm>
            <a:off x="482600" y="825500"/>
            <a:ext cx="711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00">
                <a:solidFill>
                  <a:srgbClr val="75665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答辩前需要补齐的真实截图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A7A40DB-F91C-8129-374C-1D7623F2FEDB}"/>
              </a:ext>
            </a:extLst>
          </p:cNvPr>
          <p:cNvCxnSpPr/>
          <p:nvPr/>
        </p:nvCxnSpPr>
        <p:spPr>
          <a:xfrm>
            <a:off x="457200" y="1117600"/>
            <a:ext cx="11277600" cy="0"/>
          </a:xfrm>
          <a:prstGeom prst="line">
            <a:avLst/>
          </a:prstGeom>
          <a:ln w="15240">
            <a:solidFill>
              <a:srgbClr val="E1D5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76D25521-6210-440E-60EF-2F8917B76ADA}"/>
              </a:ext>
            </a:extLst>
          </p:cNvPr>
          <p:cNvSpPr txBox="1"/>
          <p:nvPr/>
        </p:nvSpPr>
        <p:spPr>
          <a:xfrm>
            <a:off x="838200" y="1422400"/>
            <a:ext cx="10033000" cy="18979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小程序上传页与预览页。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en-US" altLang="zh-CN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AutoDL 6008 </a:t>
            </a: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管理面板、健康检查、点云下载页。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en-US" altLang="zh-CN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Viewer </a:t>
            </a: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结果页或训练可视化页面。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处理后点云与原始点云文件大小对比。</a:t>
            </a:r>
          </a:p>
          <a:p>
            <a:pPr marL="279400" indent="-228600">
              <a:spcAft>
                <a:spcPts val="1000"/>
              </a:spcAft>
              <a:buFont typeface="+mj-lt"/>
              <a:buAutoNum type="arabicPeriod"/>
            </a:pP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训练日志关键阶段截图：</a:t>
            </a:r>
            <a:r>
              <a:rPr lang="en-US" altLang="zh-CN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</a:t>
            </a: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en-US" altLang="zh-CN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Splatfacto</a:t>
            </a: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en-US" altLang="zh-CN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Gaussian </a:t>
            </a:r>
            <a:r>
              <a:rPr lang="zh-CN" altLang="en-US">
                <a:solidFill>
                  <a:srgbClr val="413025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导出。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29E5636-F475-8257-66FD-17417D135D6F}"/>
              </a:ext>
            </a:extLst>
          </p:cNvPr>
          <p:cNvSpPr txBox="1"/>
          <p:nvPr/>
        </p:nvSpPr>
        <p:spPr>
          <a:xfrm>
            <a:off x="838200" y="5664200"/>
            <a:ext cx="9652000" cy="2769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b="1">
                <a:solidFill>
                  <a:srgbClr val="4D321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正式答辩时，将本稿空图位替换为上述截图即可。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FA11EE4-4C9E-DEE7-D738-CF8B8739AB7E}"/>
              </a:ext>
            </a:extLst>
          </p:cNvPr>
          <p:cNvSpPr txBox="1"/>
          <p:nvPr/>
        </p:nvSpPr>
        <p:spPr>
          <a:xfrm>
            <a:off x="533400" y="6477000"/>
            <a:ext cx="6350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Spann3R + Splatfacto | AutoDL 6006/6008 | </a:t>
            </a:r>
            <a:r>
              <a:rPr lang="zh-CN" altLang="en-US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微信小程序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6DA9162-A14C-E6D4-F7B1-37E2BCBBACFF}"/>
              </a:ext>
            </a:extLst>
          </p:cNvPr>
          <p:cNvSpPr txBox="1"/>
          <p:nvPr/>
        </p:nvSpPr>
        <p:spPr>
          <a:xfrm>
            <a:off x="11493500" y="6477000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8B74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12</a:t>
            </a:r>
            <a:endParaRPr lang="zh-CN" altLang="en-US" sz="800">
              <a:solidFill>
                <a:srgbClr val="8B746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28878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1106</Words>
  <Application>Microsoft Office PowerPoint</Application>
  <PresentationFormat>宽屏</PresentationFormat>
  <Paragraphs>123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凡轶 魏</dc:creator>
  <cp:lastModifiedBy>凡轶 魏</cp:lastModifiedBy>
  <cp:revision>2</cp:revision>
  <dcterms:created xsi:type="dcterms:W3CDTF">2026-06-03T07:08:22Z</dcterms:created>
  <dcterms:modified xsi:type="dcterms:W3CDTF">2026-06-03T07:28:26Z</dcterms:modified>
</cp:coreProperties>
</file>