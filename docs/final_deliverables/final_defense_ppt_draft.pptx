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82ee44df4304e79" /><Relationship Type="http://schemas.openxmlformats.org/officeDocument/2006/relationships/extended-properties" Target="/docProps/app.xml" Id="Rb95f81c05ed74771" /><Relationship Type="http://schemas.openxmlformats.org/officeDocument/2006/relationships/officeDocument" Target="/ppt/presentation.xml" Id="R562ca1233a274dc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9bb94aabd6e47aa"/>
  </p:sldMasterIdLst>
  <p:notesMasterIdLst>
    <p:notesMasterId xmlns:r="http://schemas.openxmlformats.org/officeDocument/2006/relationships" r:id="R5b39190797f94046"/>
  </p:notesMasterIdLst>
  <p:sldIdLst>
    <p:sldId xmlns:r="http://schemas.openxmlformats.org/officeDocument/2006/relationships" id="256" r:id="R66120eed52224afe"/>
    <p:sldId xmlns:r="http://schemas.openxmlformats.org/officeDocument/2006/relationships" id="257" r:id="Ra79997078aab473e"/>
    <p:sldId xmlns:r="http://schemas.openxmlformats.org/officeDocument/2006/relationships" id="258" r:id="R4594f27ce1a54091"/>
    <p:sldId xmlns:r="http://schemas.openxmlformats.org/officeDocument/2006/relationships" id="259" r:id="R30e8befd4e1047ad"/>
    <p:sldId xmlns:r="http://schemas.openxmlformats.org/officeDocument/2006/relationships" id="260" r:id="R153175ee19b244ac"/>
    <p:sldId xmlns:r="http://schemas.openxmlformats.org/officeDocument/2006/relationships" id="261" r:id="R4ff6836dafb94892"/>
    <p:sldId xmlns:r="http://schemas.openxmlformats.org/officeDocument/2006/relationships" id="262" r:id="R2c90e5eb22414cee"/>
    <p:sldId xmlns:r="http://schemas.openxmlformats.org/officeDocument/2006/relationships" id="263" r:id="R57bb625bb9144059"/>
    <p:sldId xmlns:r="http://schemas.openxmlformats.org/officeDocument/2006/relationships" id="264" r:id="R9e4ae7f0903e49ec"/>
    <p:sldId xmlns:r="http://schemas.openxmlformats.org/officeDocument/2006/relationships" id="265" r:id="R04276da3009642d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bb94aabd6e47aa" /><Relationship Type="http://schemas.openxmlformats.org/officeDocument/2006/relationships/theme" Target="/ppt/theme/theme1.xml" Id="R0b7caf51d7304cd5" /><Relationship Type="http://schemas.openxmlformats.org/officeDocument/2006/relationships/notesMaster" Target="/ppt/notesMasters/notesMaster1.xml" Id="R5b39190797f94046" /><Relationship Type="http://schemas.openxmlformats.org/officeDocument/2006/relationships/presProps" Target="/ppt/presProps.xml" Id="R5223d971faef45c0" /><Relationship Type="http://schemas.openxmlformats.org/officeDocument/2006/relationships/viewProps" Target="/ppt/viewProps.xml" Id="R37c171bb93164c84" /><Relationship Type="http://schemas.openxmlformats.org/officeDocument/2006/relationships/tableStyles" Target="/ppt/tableStyles.xml" Id="R0ff246822b204c49" /><Relationship Type="http://schemas.openxmlformats.org/officeDocument/2006/relationships/slide" Target="/ppt/slides/slide1.xml" Id="R66120eed52224afe" /><Relationship Type="http://schemas.openxmlformats.org/officeDocument/2006/relationships/slide" Target="/ppt/slides/slide2.xml" Id="Ra79997078aab473e" /><Relationship Type="http://schemas.openxmlformats.org/officeDocument/2006/relationships/slide" Target="/ppt/slides/slide3.xml" Id="R4594f27ce1a54091" /><Relationship Type="http://schemas.openxmlformats.org/officeDocument/2006/relationships/slide" Target="/ppt/slides/slide4.xml" Id="R30e8befd4e1047ad" /><Relationship Type="http://schemas.openxmlformats.org/officeDocument/2006/relationships/slide" Target="/ppt/slides/slide5.xml" Id="R153175ee19b244ac" /><Relationship Type="http://schemas.openxmlformats.org/officeDocument/2006/relationships/slide" Target="/ppt/slides/slide6.xml" Id="R4ff6836dafb94892" /><Relationship Type="http://schemas.openxmlformats.org/officeDocument/2006/relationships/slide" Target="/ppt/slides/slide7.xml" Id="R2c90e5eb22414cee" /><Relationship Type="http://schemas.openxmlformats.org/officeDocument/2006/relationships/slide" Target="/ppt/slides/slide8.xml" Id="R57bb625bb9144059" /><Relationship Type="http://schemas.openxmlformats.org/officeDocument/2006/relationships/slide" Target="/ppt/slides/slide9.xml" Id="R9e4ae7f0903e49ec" /><Relationship Type="http://schemas.openxmlformats.org/officeDocument/2006/relationships/slide" Target="/ppt/slides/slide10.xml" Id="R04276da3009642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7581c62b42e46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b4913dd7ea1425f" /><Relationship Type="http://schemas.openxmlformats.org/officeDocument/2006/relationships/notesMaster" Target="/ppt/notesMasters/notesMaster1.xml" Id="R355596ed55a849a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8ef27930c5e459c" /><Relationship Type="http://schemas.openxmlformats.org/officeDocument/2006/relationships/notesMaster" Target="/ppt/notesMasters/notesMaster1.xml" Id="R61f3d8bd9c4945d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4e40e0566e34c19" /><Relationship Type="http://schemas.openxmlformats.org/officeDocument/2006/relationships/notesMaster" Target="/ppt/notesMasters/notesMaster1.xml" Id="R00f21b28d61949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84412b2ada241e9" /><Relationship Type="http://schemas.openxmlformats.org/officeDocument/2006/relationships/notesMaster" Target="/ppt/notesMasters/notesMaster1.xml" Id="R857d4639ab5e46f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95d9e4bf5b0499e" /><Relationship Type="http://schemas.openxmlformats.org/officeDocument/2006/relationships/notesMaster" Target="/ppt/notesMasters/notesMaster1.xml" Id="R2412944e26214cb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950cf32db0e4c3d" /><Relationship Type="http://schemas.openxmlformats.org/officeDocument/2006/relationships/notesMaster" Target="/ppt/notesMasters/notesMaster1.xml" Id="R2d4b1715675249b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d01f2c7cb3e4bc1" /><Relationship Type="http://schemas.openxmlformats.org/officeDocument/2006/relationships/notesMaster" Target="/ppt/notesMasters/notesMaster1.xml" Id="R6eae4f9d453b460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47ea4775bd7485e" /><Relationship Type="http://schemas.openxmlformats.org/officeDocument/2006/relationships/notesMaster" Target="/ppt/notesMasters/notesMaster1.xml" Id="Ra94cf7ee05e5494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d9b1f69e6854ec3" /><Relationship Type="http://schemas.openxmlformats.org/officeDocument/2006/relationships/notesMaster" Target="/ppt/notesMasters/notesMaster1.xml" Id="R67d39cffb5aa4e0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731c9e4233e47f2" /><Relationship Type="http://schemas.openxmlformats.org/officeDocument/2006/relationships/notesMaster" Target="/ppt/notesMasters/notesMaster1.xml" Id="R191cc9f71bf14ed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5a0cf26bd3482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0815056ef95b4b5a" /><Relationship Type="http://schemas.openxmlformats.org/officeDocument/2006/relationships/slideLayout" Target="/ppt/slideLayouts/slideLayout2.xml" Id="Rd71ed53b71e2407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1ed53b71e2407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c99c932f4848d5" /><Relationship Type="http://schemas.openxmlformats.org/officeDocument/2006/relationships/image" Target="/ppt/media/image.png" Id="R1c7628f3b9cf4569" /><Relationship Type="http://schemas.openxmlformats.org/officeDocument/2006/relationships/notesSlide" Target="/ppt/notesSlides/notesSlide1.xml" Id="Rc1d3a99ac9d948f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95198d4ff0432f" /><Relationship Type="http://schemas.openxmlformats.org/officeDocument/2006/relationships/notesSlide" Target="/ppt/notesSlides/notesSlide2.xml" Id="Rb10e2663343142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f639d6b9c947eb" /><Relationship Type="http://schemas.openxmlformats.org/officeDocument/2006/relationships/notesSlide" Target="/ppt/notesSlides/notesSlide3.xml" Id="R28b9bee3f9a241c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793294b8c94b60" /><Relationship Type="http://schemas.openxmlformats.org/officeDocument/2006/relationships/notesSlide" Target="/ppt/notesSlides/notesSlide4.xml" Id="Ra3034410e7f04aa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2c0d6119eb42ae" /><Relationship Type="http://schemas.openxmlformats.org/officeDocument/2006/relationships/image" Target="/ppt/media/image.jpeg" Id="R429ce269c984485a" /><Relationship Type="http://schemas.openxmlformats.org/officeDocument/2006/relationships/image" Target="/ppt/media/image2.png" Id="Rc366aec4a4f54d9f" /><Relationship Type="http://schemas.openxmlformats.org/officeDocument/2006/relationships/notesSlide" Target="/ppt/notesSlides/notesSlide5.xml" Id="Rb13714e0e5ae4c4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d7cbca359d43f5" /><Relationship Type="http://schemas.openxmlformats.org/officeDocument/2006/relationships/image" Target="/ppt/media/image3.png" Id="R905958a5f0e44b3c" /><Relationship Type="http://schemas.openxmlformats.org/officeDocument/2006/relationships/image" Target="/ppt/media/image4.png" Id="R4422967b38864a45" /><Relationship Type="http://schemas.openxmlformats.org/officeDocument/2006/relationships/notesSlide" Target="/ppt/notesSlides/notesSlide6.xml" Id="R21260932187040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834a9dcff842d5" /><Relationship Type="http://schemas.openxmlformats.org/officeDocument/2006/relationships/image" Target="/ppt/media/image5.png" Id="R9226b6512934459b" /><Relationship Type="http://schemas.openxmlformats.org/officeDocument/2006/relationships/notesSlide" Target="/ppt/notesSlides/notesSlide7.xml" Id="R4272cde6ab314fc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8eccc0c030426c" /><Relationship Type="http://schemas.openxmlformats.org/officeDocument/2006/relationships/image" Target="/ppt/media/image6.png" Id="Re8c6da100e4d408d" /><Relationship Type="http://schemas.openxmlformats.org/officeDocument/2006/relationships/image" Target="/ppt/media/image7.png" Id="R3585b5978df244bd" /><Relationship Type="http://schemas.openxmlformats.org/officeDocument/2006/relationships/notesSlide" Target="/ppt/notesSlides/notesSlide8.xml" Id="R1831f2f7a49543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da669bc6994b8a" /><Relationship Type="http://schemas.openxmlformats.org/officeDocument/2006/relationships/image" Target="/ppt/media/image8.png" Id="Ra24c08f1781c4b3d" /><Relationship Type="http://schemas.openxmlformats.org/officeDocument/2006/relationships/notesSlide" Target="/ppt/notesSlides/notesSlide9.xml" Id="R1defc66a8d424d6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64b22b5c664c86" /><Relationship Type="http://schemas.openxmlformats.org/officeDocument/2006/relationships/notesSlide" Target="/ppt/notesSlides/notesSlide10.xml" Id="R5bd5a97492114f1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D7A7DD-4F91-4E24-A781-7FFE946F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B1220"/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7628f3b9cf4569"/>
          <a:srcRect xmlns:a="http://schemas.openxmlformats.org/drawingml/2006/main" l="0" t="3067" r="0" b="30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38900" y="590550"/>
            <a:ext cx="5143500" cy="33528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3AB7B4-D3E5-4DA3-9A4F-705F6005D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0050"/>
            <a:ext cx="5562600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1430">
            <a:solidFill>
              <a:srgbClr val="3341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EEF5E3-5821-4B40-9B22-11AAC48D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3C5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3C5FD"/>
                </a:solidFill>
                <a:latin typeface="Microsoft YaHei"/>
                <a:ea typeface="Microsoft YaHei"/>
                <a:cs typeface="Microsoft YaHei"/>
              </a:rPr>
              <a:t>结题答辩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38AAA6-C941-4E3C-8202-F81FF217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5334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基于 Spann3R + Splatfacto 的移动端 3D 场景重建系统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3AD5F6-5107-450D-ABEB-E950848C0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71750"/>
            <a:ext cx="533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从双筛关键帧采集，到 3DGS 训练、Viewer 预览与点云下载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5D4EEF-7314-4A89-9AA2-ADC8AD57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14859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E2F70E-4D75-4F7C-8D3E-4D892F790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86A206-6B58-48BF-A035-FBF2B8F1E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0"/>
            <a:ext cx="1162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输入帧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A0B31E-5744-4971-AEEF-F3369BFE5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1162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66 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5E41E1-CFA8-432C-B8DB-5A2C56817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81500"/>
            <a:ext cx="1162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桌面视频抽帧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1E5C95-6B94-4CE3-9545-60AB540FD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638550"/>
            <a:ext cx="14859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724ABE-3629-48B7-8158-72A3EEEF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6385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16A3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D68BC3-9804-43EC-B121-78BD4C382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810000"/>
            <a:ext cx="1162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关键帧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3F31A0-6E59-4372-9B21-BC949E172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038600"/>
            <a:ext cx="1162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11 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E69374-A3C4-4944-8567-D83EFAD7A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381500"/>
            <a:ext cx="1162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进入 Spann3R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D9376F-79AD-4F74-BCB8-5D7EFDFAC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638550"/>
            <a:ext cx="1809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8BED29-1C4A-4105-B15F-587FB615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6385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DA9CB7-8FBF-41D9-BB5F-D0B8128A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10000"/>
            <a:ext cx="1485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8C0439-4554-45B6-BEC1-ACB5604C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038600"/>
            <a:ext cx="1485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splat.ply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F00707-8F26-4156-BDCA-5887DD9F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38150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可下载结果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9321E0-BBB8-44BF-B353-11BF8E5D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2026.06.03 端到端测试</a:t>
            </a:r>
          </a:p>
        </p:txBody>
      </p:sp>
    </p:spTree>
    <p:extLst>
      <p:ext uri="{BB962C8B-B14F-4D97-AF65-F5344CB8AC3E}">
        <p14:creationId xmlns:p14="http://schemas.microsoft.com/office/powerpoint/2010/main" val="37632521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CDEF1F-FC54-4A58-8E39-4FF85335F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30ECDE-6CAB-4F1A-BD06-963EC6801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490CF6-D0B5-4B22-AB16-A55B7958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990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移动端 3D 重建的难点不是单个模型，而是可用闭环。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41E0AF-0C3B-4A1B-BBEA-AC184DFE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38250"/>
            <a:ext cx="111252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5A61BE-95F3-47BB-A962-E05D66E7D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FE5151-CBEA-4502-B87D-D2AA1474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33550"/>
            <a:ext cx="4933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手机输入是非标定、多抖动、多模糊、多重复帧的数据。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579277-8D40-492C-A922-B3BF8373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B10587-3B32-4AEB-8325-4F5C06AF9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43150"/>
            <a:ext cx="4933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传统几何流程对采集规范和外部依赖更敏感。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D9AA8A-D04E-4676-8C63-F90317AE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68502D-BF76-499B-B1BD-3564ACB0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52750"/>
            <a:ext cx="4933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只跑训练脚本不等于用户能预览、下载和复用结果。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58B6C0-5A51-4F11-9BDA-C29356EB4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E0ACDA-B0E8-4C11-8825-3AE2CD172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4933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本项目把采集、训练、预览、下载放进同一条可复核链路。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0DC6B2-81A3-4354-BFD5-213565D7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19250"/>
            <a:ext cx="42862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A4986C-4F29-42DB-805A-FC9B77D54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943100"/>
            <a:ext cx="342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结题验收看四件事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D0D0ED-5ABC-4CA1-BFB2-F13FD4C28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628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16A3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966D92-84BF-4A21-8244-8B0CFA2F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552700"/>
            <a:ext cx="2933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上传是否可靠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8B1814-716E-4F1F-8AD6-ADB9F6D2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86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16A3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86EFD6-161D-4BC8-81CF-B43AEADD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09900"/>
            <a:ext cx="2933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训练是否跑通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0EDD79-A62D-4E6F-9326-A4A029E4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43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16A3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2E9669-E6E7-4098-8EEE-F1E52BB4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467100"/>
            <a:ext cx="2933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预览是否可交互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11AFBE-7CC2-4B5F-9314-59EA5E2A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00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16A3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F73C3C-0B82-47D5-9BD1-AAE70CA32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924300"/>
            <a:ext cx="2933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结果是否能下载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C68C74-CFCC-43F6-B539-4B1C67467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Spann3R + Splatfacto 移动端 3D 重建系统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40B4EA-4AF6-4B5D-BA28-F0C2341E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883314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9A4F22-750B-4161-95B2-A9E7BC06B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E1820F-DD42-4059-8137-CE0BC689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4B4797-970B-4930-AE0B-413B64A44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990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Spann3R 负责非标定几何先验，Splatfacto 负责 3DGS 表达优化。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7A2A16-9C8A-4EE4-9326-EEC5322E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38250"/>
            <a:ext cx="111252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251688-E347-405E-B6AB-5426DB02E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1600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65641B-0EC6-4C4A-8583-68ADA531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295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移动端/视频帧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B72854-8519-4524-966E-6BE8B9F81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099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多视角输入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AEDBC5-11E6-4272-B9DE-80DCA5552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724150"/>
            <a:ext cx="571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56F484-0758-47C2-BEF6-CF5D579A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333625"/>
            <a:ext cx="1600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DF121C-F350-4F72-ADDA-9D178A95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590800"/>
            <a:ext cx="1295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双筛关键帧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55D6E5-B3C5-43E6-8D8E-E9BCE2A7C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099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稳定性 + 清晰度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1C3F8F-86EE-45D0-A42A-4653C4E2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724150"/>
            <a:ext cx="571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B91A6A-0B65-4325-981A-1B899AA48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33625"/>
            <a:ext cx="1600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44AEF3-0812-483D-9D2E-95EF24E1C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590800"/>
            <a:ext cx="1295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Spann3R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8A22B2-979B-4DFD-8A1D-366689C3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0099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位姿 + 初始点云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CC1699-2276-4D7B-AB3B-A96287BE2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724150"/>
            <a:ext cx="571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701916-2C64-4FDD-8086-E0F0CA969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333625"/>
            <a:ext cx="1600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3DA4E2-369C-4A93-A80F-DBF32A06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590800"/>
            <a:ext cx="1295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Splatfacto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CAA936-E85B-497E-8725-3722A108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099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Gaussian 训练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CEF4B1-2C3E-48C2-A30F-8E68335B0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724150"/>
            <a:ext cx="571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97F169-541B-43B1-ACFE-B33650A75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33625"/>
            <a:ext cx="1600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F21784-7C06-4E18-98C5-24891DDC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590800"/>
            <a:ext cx="1295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52501B-20DB-4ABF-89F5-E6C90D0C9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0099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Viewer + 下载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ACA9F6-2FCD-4001-B038-6C6A6092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43400"/>
            <a:ext cx="9220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关键设计：先把输入变得可训练，再把训练结果变得可预览、可下载。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7C8BDA-9F13-448E-B972-C1C113FD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Spann3R + Splatfacto 移动端 3D 重建系统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81CE25-4FCD-4F3C-8B83-AEA51FDA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7077031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C2B8F8-CF05-4999-9067-FC8DB4863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B5E27B-94E7-4BBA-B1EE-E0408419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FRONTEND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942006-1CD4-4001-816E-5F8417B72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990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首页从联调面板收敛为正式采集工具，但保留双重筛选表达。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D857CE-A96A-42A8-97E9-1C7CEDC4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38250"/>
            <a:ext cx="111252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1F9EEB-55F3-4510-91F9-D92C26D58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3429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7BDC5A-C540-417D-BDD1-136D6805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95500"/>
            <a:ext cx="2819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顶部状态条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C2B84B-CD3C-4832-BFAB-F71476975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860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86EF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86EFAC"/>
                </a:solidFill>
                <a:latin typeface="Microsoft YaHei"/>
                <a:ea typeface="Microsoft YaHei"/>
                <a:cs typeface="Microsoft YaHei"/>
              </a:rPr>
              <a:t>稳定 / 请持稳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FC6A2C-4BB0-4F18-8221-8E17764C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194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双筛关键帧采集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74B112-F58F-4E62-8A8A-993F6221F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528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后端就绪 / 等待服务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014DDE-978D-4B93-97B1-C953E1FDB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790700"/>
            <a:ext cx="2857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7EFFB8-65CA-407B-8775-B8B0E8FE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3360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稳定性筛选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B9C934-BD26-400F-AC5F-B9E4C260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5908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通过 / 待通过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AA26D9-DF9C-4DD3-87FC-1D0A1BCD3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90700"/>
            <a:ext cx="2857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04B958-9AE8-4F80-8227-791085421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3360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清晰度筛选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2B568C-FE8D-4DA7-AA26-361C3424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908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通过 / 检测中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9CA2D5-6536-4669-9464-4F446F103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6957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CF6DD2-1702-4D39-867F-EB5CF69CC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619500"/>
            <a:ext cx="5410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隐藏 IMU 原始数值、长阶段说明和端口提示。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5BF3E9-BD22-4D15-8A7D-BA761C9B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114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74F73A-23FC-4A8E-9C0E-3804265FC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038600"/>
            <a:ext cx="5410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采集统计压缩为有效帧 / 总帧与淘汰原因摘要。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9CE158-BFDD-4EE5-9AB2-232F4CC7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533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5B410F-B6B9-49F2-8A19-E8B3B32C1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457700"/>
            <a:ext cx="5410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上传按钮根据采集、有效帧、服务状态给短文案。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473765-4169-49AF-9D66-AF5DC1748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953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DC9E59-FF1F-4094-A62E-8A97181A2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876800"/>
            <a:ext cx="5410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保留外部跳转/复制方案，不新增 WebView。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A3AC7C-E0CC-427D-B835-062C0F3A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Spann3R + Splatfacto 移动端 3D 重建系统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21221E-5011-455C-BAA0-F6BEDA252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3482936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C89F3B-2211-4D21-8F2B-E5C063B78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D7ADC6-823A-4CF1-8FC1-03101E6C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DA5F59-EDAD-4F5E-91BC-A793D695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990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桌面视频全流程测试覆盖上传、重建、训练、预览与下载。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351C67-8827-4257-9A83-531A23F6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38250"/>
            <a:ext cx="111252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9ce269c984485a"/>
          <a:srcRect xmlns:a="http://schemas.openxmlformats.org/drawingml/2006/main" l="0" t="14205" r="0" b="142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638300"/>
            <a:ext cx="3143250" cy="4000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DCCA6C-AEF6-4039-AAF1-44FB122F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95450"/>
            <a:ext cx="2000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0BC357-C2D3-44FA-90F6-206D9E05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954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DE4F59-BE0D-4225-9989-7C9F3357A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866900"/>
            <a:ext cx="1676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原视频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6570E4-C4E9-4559-9B16-B66AF524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95500"/>
            <a:ext cx="1676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22.08s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EF43F0-29D5-4140-80A9-61E5A9E1B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438400"/>
            <a:ext cx="1676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1080x1920 / 30 FPS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24B855-1B31-472C-9243-712A5A47E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95450"/>
            <a:ext cx="2000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B15289-C12B-4381-93F1-13076924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954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16A3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37E7E8-21C5-4009-AD41-8B1CE149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866900"/>
            <a:ext cx="1676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抽帧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2C1ECA-348B-46E8-94FC-CB02285D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95500"/>
            <a:ext cx="1676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66 张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46428C-2E02-453F-80FE-5720B7F7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438400"/>
            <a:ext cx="1676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720x1280 JPG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99EE2B-FF37-49C0-83EE-AD1F6E11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95450"/>
            <a:ext cx="2000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0045D6-7671-48AC-AF93-D0E9C20AF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954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C430EA-7C54-48D4-AC11-BFE48A36E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866900"/>
            <a:ext cx="1676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上传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EBC386-B574-4C25-94D7-0FFBCC948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095500"/>
            <a:ext cx="1676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46.97s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614F27-BF60-4B9F-970B-86E6A8F9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38400"/>
            <a:ext cx="1676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多帧上传完成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66aec4a4f54d9f"/>
          <a:stretch xmlns:a="http://schemas.openxmlformats.org/drawingml/2006/main"/>
        </p:blipFill>
        <p:spPr>
          <a:xfrm xmlns:a="http://schemas.openxmlformats.org/drawingml/2006/main">
            <a:off x="5102972" y="3257550"/>
            <a:ext cx="4995956" cy="2381250"/>
          </a:xfrm>
          <a:prstGeom xmlns:a="http://schemas.openxmlformats.org/drawingml/2006/main" prst="rect">
            <a:avLst/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54E302-4FF2-4459-8D7A-FE7063C99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Spann3R + Splatfacto 移动端 3D 重建系统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309D85-CAFC-4FC1-9C35-B03052EE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6347257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C37915-AC70-49DB-80C7-2EFABE3D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90B145-FC61-422C-A91A-CC6F3D75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TRAINING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DD4781-AF06-48F3-8726-13FE6CE7C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990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训练日志显示：关键帧先验和 3DGS 训练链路均已跑通。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310406-D149-4E31-9361-6DE0592E9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38250"/>
            <a:ext cx="111252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5958a5f0e44b3c"/>
          <a:stretch xmlns:a="http://schemas.openxmlformats.org/drawingml/2006/main"/>
        </p:blipFill>
        <p:spPr>
          <a:xfrm xmlns:a="http://schemas.openxmlformats.org/drawingml/2006/main">
            <a:off x="666750" y="1792941"/>
            <a:ext cx="4381500" cy="2319618"/>
          </a:xfrm>
          <a:prstGeom xmlns:a="http://schemas.openxmlformats.org/drawingml/2006/main" prst="rect">
            <a:avLst/>
          </a:prstGeom>
        </p:spPr>
      </p:pic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22967b38864a45"/>
          <a:stretch xmlns:a="http://schemas.openxmlformats.org/drawingml/2006/main"/>
        </p:blipFill>
        <p:spPr>
          <a:xfrm xmlns:a="http://schemas.openxmlformats.org/drawingml/2006/main">
            <a:off x="5410200" y="1661389"/>
            <a:ext cx="5905500" cy="281132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28607B-80E9-4E9B-9698-B43E2E6E1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5775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4A700C-F245-4CED-915B-8C09BA6E3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577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16A3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0A3F78-7734-488A-A383-8FA3104E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29200"/>
            <a:ext cx="1866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Spann3R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8AF900-E13E-4D6C-A226-0BDC2F2F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57800"/>
            <a:ext cx="1866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11.95 FPS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2EF451-584F-4E94-BA38-276366067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600700"/>
            <a:ext cx="1866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11 个关键帧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F0C2FB-9806-48DD-AEE8-53CDD778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85775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AD9624-2333-4B67-B968-B89EB0EB7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8577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373149-A956-4155-8121-C8446E76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029200"/>
            <a:ext cx="1866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点云筛选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D8977C-56BC-4C98-AE70-DD589F43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257800"/>
            <a:ext cx="1866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3.91%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7BB944-2DF8-4545-8E89-863779193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600700"/>
            <a:ext cx="1866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22105 -&gt; 864 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0AC6D0-40E6-4E4E-9454-D47D1646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85775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50113F-1CF7-4680-B2A7-C02CC56BE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8577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B3C8DF-85A1-4006-84CB-7A03A284C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029200"/>
            <a:ext cx="1866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Splatfacto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EE3BF8-F823-4C4B-B25A-4BAF1FAC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57800"/>
            <a:ext cx="1866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60 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61DFFB-ED32-4854-8AEE-76225242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600700"/>
            <a:ext cx="1866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Training Finished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1278ED-7C09-4738-97E9-D81AED95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85775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3BD4F6-6EAF-4020-A5AE-1A9466816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8577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DC262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1ACD84-69B4-447B-90B8-9946F4D62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029200"/>
            <a:ext cx="1866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导出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375BC9-A3AC-4B58-B207-7064E5381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257800"/>
            <a:ext cx="1866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15s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7D75B2-0A33-41E8-98CE-832033AF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600700"/>
            <a:ext cx="1866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Gaussian splat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DAA74A-8E8F-41D6-8D63-1F4868825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Spann3R + Splatfacto 移动端 3D 重建系统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F055D6-D992-46CA-9AA9-2CFE154DD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1245574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3515E8-61B5-48DF-B765-DE8F9611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291026-253B-473C-979F-FC3C42EE1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PREVIEW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F331A4-0B8F-4050-8CFA-E63F667FC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990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Viewer 连接证明训练结果可交互预览，不只是离线文件。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EB17BA-A20E-4894-951E-99CB68D28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38250"/>
            <a:ext cx="111252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26b6512934459b"/>
          <a:stretch xmlns:a="http://schemas.openxmlformats.org/drawingml/2006/main"/>
        </p:blipFill>
        <p:spPr>
          <a:xfrm xmlns:a="http://schemas.openxmlformats.org/drawingml/2006/main">
            <a:off x="1167384" y="1581150"/>
            <a:ext cx="6199632" cy="430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AC0B36-F3CF-4DEE-8683-87A8396FC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695450"/>
            <a:ext cx="27051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8C3E33-F360-4B26-912C-32776F3CC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0383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预览证据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583823-4B7D-451D-9622-F4B2059B9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24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16A3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E26A1C-1CC8-4D89-B38F-B9524E7A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647950"/>
            <a:ext cx="1695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Viewer 已连接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678041-062F-466D-8F95-BF93D5DE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24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C65464-F7B3-4BE6-A576-408D4EBCD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048000"/>
            <a:ext cx="1695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相机轨迹可见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0324DB-958D-49A8-BF72-9975C76D1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16A3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1FA9A5-0AF9-4C61-876D-40BE3C3BD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48050"/>
            <a:ext cx="1695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场景画面已加载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AF7F2C-E2E2-4DCA-BE64-908E8659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924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16A3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5FDB2A-8207-4727-A184-1DC7DB985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848100"/>
            <a:ext cx="1695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可手动旋转查看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C9F869-78C4-433B-8508-5432969C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953000"/>
            <a:ext cx="285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说明：本轮没有可靠采集 WebGL 实际渲染 FPS，答辩中不伪造帧率指标。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2247A5-24DD-48C5-8C62-0CB9D6EC6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Spann3R + Splatfacto 移动端 3D 重建系统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B159E7-2E62-435D-867A-ADBA6C2D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8063604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917B98-04FC-4F74-B4C8-A784D7FE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8959D8-7A5E-4BD8-955E-515D7B7B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DOWNLOAD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069520-81C1-4010-93EE-E5D9CDAB8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990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下载页区分原始、下采样、训练输入和 Gaussian 成果。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B92BDE-3A92-4B16-9107-A4CF5F8B9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38250"/>
            <a:ext cx="111252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c6da100e4d408d"/>
          <a:stretch xmlns:a="http://schemas.openxmlformats.org/drawingml/2006/main"/>
        </p:blipFill>
        <p:spPr>
          <a:xfrm xmlns:a="http://schemas.openxmlformats.org/drawingml/2006/main">
            <a:off x="1039368" y="1543050"/>
            <a:ext cx="5541264" cy="3848100"/>
          </a:xfrm>
          <a:prstGeom xmlns:a="http://schemas.openxmlformats.org/drawingml/2006/main" prst="rect">
            <a:avLst/>
          </a:prstGeom>
        </p:spPr>
      </p:pic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85b5978df244bd"/>
          <a:stretch xmlns:a="http://schemas.openxmlformats.org/drawingml/2006/main"/>
        </p:blipFill>
        <p:spPr>
          <a:xfrm xmlns:a="http://schemas.openxmlformats.org/drawingml/2006/main">
            <a:off x="7239000" y="1993366"/>
            <a:ext cx="4000500" cy="186161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68794F-F8D7-4FC3-9125-E4F849CE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476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AB8BBF-7565-4867-9D8F-98B3E9B34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400550"/>
            <a:ext cx="3219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优先交付下采样点云，避免直接下载完整噪声点云。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96052A-F10F-4D6B-A2EC-3FEAC9DFC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895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837183-359A-460D-866B-D84A1D42E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819650"/>
            <a:ext cx="3219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Gaussian splat 作为最终 3DGS 结果，可用于后续查看。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556D4B-2972-4F59-B954-F1D798CA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314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5C6438-9DF1-45AA-9C98-E1D4D73BE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238750"/>
            <a:ext cx="3219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下载页面支持筛选、单文件和 ZIP 操作。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6873B3-EABE-4FC3-93E5-307E68046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Spann3R + Splatfacto 移动端 3D 重建系统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89911F-F480-42DF-ABB7-4BF4699CE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5184689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4FEBD9-65CB-4AD5-86C0-0320C4F4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E4C157-26C6-43E2-B642-04FCDF3B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COMPARISON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714033-7C3E-4052-AD42-14500903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990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同卡对比中，本方案是唯一完成端到端交付的路线。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2E33D9-923C-4AF1-86F0-C3D1026E0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38250"/>
            <a:ext cx="111252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4c08f1781c4b3d"/>
          <a:stretch xmlns:a="http://schemas.openxmlformats.org/drawingml/2006/main"/>
        </p:blipFill>
        <p:spPr>
          <a:xfrm xmlns:a="http://schemas.openxmlformats.org/drawingml/2006/main">
            <a:off x="800100" y="1973709"/>
            <a:ext cx="6381750" cy="2910583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FBFF15-E299-4943-85D6-8B21892EF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76400"/>
            <a:ext cx="33337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588CBD-F864-4547-97D5-E5F8A4C0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3835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对比结论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426BF5-5DD3-4604-BFAD-93EA3B55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24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B240AC-C1DB-4011-AAC6-0A81BA53E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47950"/>
            <a:ext cx="2266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COLMAP + 3DGS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0D0837-0811-414A-8C2F-498D53FD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5750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缺少 COLMAP，预处理未闭环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7DC784-4AE2-42AF-BC18-1B9E5DAF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BFE322-31FE-4426-92DC-EAE573FA2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62300"/>
            <a:ext cx="2266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DUSt3R + 3DGS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C1ACB9-626B-47B5-9C68-32EF1DA0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718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独立 demo 依赖冲突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A5EC6D-68E5-41DF-85A4-63741090F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52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339DAF-B249-4C5B-9E59-BD73E0B69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676650"/>
            <a:ext cx="2266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NeRF / Nerfacto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1CD108-F1FD-4788-B2E2-E1D7C6A25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88620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训练可跑，但不直接交付 3DGS 点云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482F67-09A6-4ED9-B793-52503C3BD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67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2BF8E7-35C8-468C-8226-19D49BE6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191000"/>
            <a:ext cx="2266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本项目方案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2DC8D8-56D7-40A4-A8F6-4A818AD8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4005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完成采集、训练、预览、下载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62C4E5-A319-4C0F-A4C1-1D943D7B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Spann3R + Splatfacto 移动端 3D 重建系统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90EEF2-B25C-4653-8E2F-C1AB76DDF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4929792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F86D0A-A46F-4732-85BF-BBC526792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B12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6E6821-B23D-4AC9-BEB7-8EABA4E2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3C5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93C5FD"/>
                </a:solidFill>
                <a:latin typeface="Microsoft YaHei"/>
                <a:ea typeface="Microsoft YaHei"/>
                <a:cs typeface="Microsoft YaHei"/>
              </a:rPr>
              <a:t>CONCLUSION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D472F2-9783-4B06-8D53-9A8EA0CC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685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结题展示围绕三条证据线展开。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87616B-48AC-4CA9-9698-1FCBAD24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3124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1D2782-7EF2-421C-87D0-93BD2AE8A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669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93C5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93C5FD"/>
                </a:solidFill>
                <a:latin typeface="Microsoft YaHei"/>
                <a:ea typeface="Microsoft YaHei"/>
                <a:cs typeface="Microsoft YaHei"/>
              </a:rPr>
              <a:t>输入质量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F039B5-CD0F-4B58-93A8-0EE8F6222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8605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首页双筛关键帧采集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84A246-B7B3-4D3D-A4AF-2D2094DE3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71850"/>
            <a:ext cx="2476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稳定性 + 清晰度过滤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216E86-6786-432B-A5F9-C409C7B7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00250"/>
            <a:ext cx="3124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2901A8-1723-4E74-8DBD-5F3BA4CB9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669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93C5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93C5FD"/>
                </a:solidFill>
                <a:latin typeface="Microsoft YaHei"/>
                <a:ea typeface="Microsoft YaHei"/>
                <a:cs typeface="Microsoft YaHei"/>
              </a:rPr>
              <a:t>训练链路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21F6BA-CB04-48EB-9D3C-3C1FC6AE4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8605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Spann3R + Splatfacto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066464-1676-4452-962B-C1674F301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71850"/>
            <a:ext cx="2476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11 关键帧、60 步训练完成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C2F501-514D-4096-BDD5-9C2A39CF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000250"/>
            <a:ext cx="3124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5BA74A-69D6-4D67-A1B0-C0C742749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669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93C5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93C5FD"/>
                </a:solidFill>
                <a:latin typeface="Microsoft YaHei"/>
                <a:ea typeface="Microsoft YaHei"/>
                <a:cs typeface="Microsoft YaHei"/>
              </a:rPr>
              <a:t>结果交付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2B3433-633E-4B6A-80B0-19F5D759B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8605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Viewer + 点云下载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BB559C-6680-41D9-8391-706E9AE2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371850"/>
            <a:ext cx="2476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Gaussian splat 与下采样点云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54D55F-BDFD-4812-947E-1FBEF603C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990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还需要补拍：小程序首页/采集中/上传完成截图，以及更清晰的 Viewer 旋转角度。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197FEE-D4AF-48A7-8094-4CF8B53A5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Spann3R + Splatfacto 移动端 3D 重建系统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37C3FF-83A5-4760-BCDC-D402C697B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527401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2026-06-03T15:48:22.5470000Z</dcterms:created>
  <dcterms:modified xsi:type="dcterms:W3CDTF">2026-06-03T15:48:22.5470000Z</dcterms:modified>
</coreProperties>
</file>